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Is the Canadian Home Bias</a:t>
            </a:r>
            <a:br/>
            <a:r>
              <a:t>Mean-Variance Efficient?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02336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333333"/>
                </a:solidFill>
              </a:defRPr>
            </a:pPr>
            <a:r>
              <a:t>CFM301 Project 1: Constructing the Most Efficient Portfolio</a:t>
            </a:r>
            <a:br/>
            <a:r>
              <a:t>Jian  |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4E79"/>
                </a:solidFill>
              </a:defRPr>
            </a:pPr>
            <a:r>
              <a:t>The economic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</a:defRPr>
            </a:pPr>
            <a:r>
              <a:t>Canadians hold ≈50% of equity in Canadian stocks (IMF, via Vanguard 2024)…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</a:defRPr>
            </a:pPr>
            <a:r>
              <a:t>…yet Canada is only ≈3% of world market cap — a 15–18x overweight.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</a:defRPr>
            </a:pPr>
            <a:r>
              <a:t>Vanguard's minimum-variance analysis recommends just 30% domestic equity.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</a:defRPr>
            </a:pPr>
            <a:r>
              <a:t>Question: is the observed home bias mean-variance efficient?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</a:defRPr>
            </a:pPr>
            <a:r>
              <a:t>Approach: trace the long-only frontier over regional equities (in CAD) and see what domestic weight the optimizer chooses.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4E79"/>
                </a:solidFill>
              </a:defRPr>
            </a:pPr>
            <a:r>
              <a:t>Data &amp; universe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</a:defRPr>
            </a:pPr>
            <a:r>
              <a:t>Five regional equity ETFs, monthly total returns (Yahoo Finance, adjusted closes):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</a:defRPr>
            </a:pPr>
            <a:r>
              <a:t>XIU.TO Canada  ·  SPY US large cap  ·  IWM US small cap  ·  EFA dev. ex-NA  ·  EEM emerging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</a:defRPr>
            </a:pPr>
            <a:r>
              <a:t>USD series converted to CAD each month-end via USD/CAD (unhedged).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</a:defRPr>
            </a:pPr>
            <a:r>
              <a:t>Sample: Oct 2003 – Aug 2026, 275 months. Means ×12, covariances ×12.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</a:defRPr>
            </a:pPr>
            <a:r>
              <a:t>Note: brief asks for CRSP/Compustat via WRDS (no access here); ETF total returns are the reproducible proxy — pipeline accepts a WRDS extract as drop-in.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4E79"/>
                </a:solidFill>
              </a:defRPr>
            </a:pPr>
            <a:r>
              <a:t>Estimated inputs (annualized, CAD)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</a:defRPr>
            </a:pPr>
            <a:r>
              <a:t>Canada: mean 10.6%, vol 12.8% — lowest volatility of the five.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</a:defRPr>
            </a:pPr>
            <a:r>
              <a:t>US large cap: mean 12.5%, vol 16.9% — highest mean.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</a:defRPr>
            </a:pPr>
            <a:r>
              <a:t>US small cap 11.9% / 21.6%  ·  EAFE 9.3% / 18.4%  ·  Emerging 11.2% / 22.3%.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</a:defRPr>
            </a:pPr>
            <a:r>
              <a:t>Correlations 0.67–0.90: Canada ~0.68 with everyone; US large/small 0.90; EAFE/EM 0.87.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</a:defRPr>
            </a:pPr>
            <a:r>
              <a:t>High correlations → limited diversification benefit beyond 2 assets.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4E79"/>
                </a:solidFill>
              </a:defRPr>
            </a:pPr>
            <a:r>
              <a:t>Frontier &amp; selection criterion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51206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</a:defRPr>
            </a:pPr>
            <a:r>
              <a:t>Quadratic programs: min w′Σw s.t. w′μ = m*, Σw = 1, w ≥ 0 (long-only).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</a:defRPr>
            </a:pPr>
            <a:r>
              <a:t>No risk-free asset → no tangency/Sharpe rule; we maximize mean-variance utility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</a:defRPr>
            </a:pPr>
            <a:r>
              <a:t>U = E[rp] − (g/2)·Var[rp] with g = 3 (course convention; typical range 1–10).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</a:defRPr>
            </a:pPr>
            <a:r>
              <a:t>Long-only: the question is about a retail investor's strategic allocation.</a:t>
            </a:r>
          </a:p>
        </p:txBody>
      </p:sp>
      <p:pic>
        <p:nvPicPr>
          <p:cNvPr id="4" name="Picture 3" descr="fron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0"/>
            <a:ext cx="5212080" cy="358330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4E79"/>
                </a:solidFill>
              </a:defRPr>
            </a:pPr>
            <a:r>
              <a:t>The most efficient 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</a:defRPr>
            </a:pPr>
            <a:r>
              <a:t>Optimal (g = 3):  48% Canada / 52% US large cap — E[r] = 11.6%, σ = 13.7%.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</a:defRPr>
            </a:pPr>
            <a:r>
              <a:t>US small cap, EAFE, emerging markets: 0% (corner solution — error maximization).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</a:defRPr>
            </a:pPr>
            <a:r>
              <a:t>Sensitivity: optimal Canada weight is 28% (g=2) → 48% (g=3) → 64% (g=5).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</a:defRPr>
            </a:pPr>
            <a:r>
              <a:t>Minimum-variance portfolio: 89% Canada / 11% US (E[r] = 10.8%, σ = 12.7%).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4E79"/>
                </a:solidFill>
              </a:defRPr>
            </a:pPr>
            <a:r>
              <a:t>Economic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</a:defRPr>
            </a:pPr>
            <a:r>
              <a:t>At g = 3 the optimizer chooses 48% domestic — essentially the ≈50% Canadians hold.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</a:defRPr>
            </a:pPr>
            <a:r>
              <a:t>The home bias is roughly mean-variance efficient for moderate risk aversion, not the glaring inefficiency its 15–18x cap-weight overweight suggests.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</a:defRPr>
            </a:pPr>
            <a:r>
              <a:t>Vanguard's 30% recommendation sits in the efficient zone too (implies g ≈ 4–5).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</a:defRPr>
            </a:pPr>
            <a:r>
              <a:t>Caveats: extreme corner solution; min-variance implies 89% domestic; sample- and criterion-dependent; unhedged currency; taxes/fees ignored.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4E79"/>
                </a:solidFill>
              </a:defRPr>
            </a:pPr>
            <a:r>
              <a:t>Peer evaluation (paired group)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</a:defRPr>
            </a:pPr>
            <a:r>
              <a:t>Three main differences vs. the paired group's solution —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</a:defRPr>
            </a:pPr>
            <a:r>
              <a:t>to be completed once the paired group is assigned.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</a:defRPr>
            </a:pPr>
            <a:r>
              <a:t>The 5–6 minute in-class presentation will explain the paired group's work and methodology, and discuss these differences.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