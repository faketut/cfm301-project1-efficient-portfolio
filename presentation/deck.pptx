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Is the Canadian Home Bias</a:t>
            </a:r>
            <a:br/>
            <a:r>
              <a:t>Mean-Variance Efficient?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02336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33333"/>
                </a:solidFill>
              </a:defRPr>
            </a:pPr>
            <a:r>
              <a:t>CFM301 Project 1: Constructing the Most Efficient Portfolio</a:t>
            </a:r>
            <a:br/>
            <a:r>
              <a:t>Jian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The economic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Canadian investors display one of the world's strongest equity home biases: they allocate roughly 50% of their equity portfolios to domestic stocks (IMF Coordinated Portfolio Investment Survey, via Vanguard 2024).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Yet Canada accounts for only about 3% of global market capitalization — an overweight of roughly 15 to 18 times.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Vanguard's minimum-variance analysis, however, suggests Canadian investors should hold only about 30% in domestic equity.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This project asks whether the observed home bias is actually mean-variance efficient. We trace the long-only efficient frontier over regional equity markets and see what domestic weight the optimizer chooses.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Data and universe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Our universe is five regional equity ETFs, measured in monthly total returns from Yahoo Finance adjusted closes, which reinvest distributions: XIU.TO for Canada, SPY for US large cap, IWM for US small cap, EFA for developed markets ex-North America, and EEM for emerging markets.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Returns on the USD-denominated ETFs are converted to Canadian dollars each month-end using the USD/CAD spot rate, so the analysis is from the perspective of an unhedged Canadian investor.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The sample runs from October 2003 to August 2026 — 275 monthly observations. Means are annualized by ×12 and covariances by ×12.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One caveat: the brief asks for CRSP/Compustat data via WRDS, which we could not access. The ETF series are a documented, reproducible proxy, and the code accepts a WRDS extract as a drop-in replacement.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Estimated inputs (annualized, CAD)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Canada offers the lowest volatility of the five markets at 12.8%, with a mean return of 10.6%.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US large cap has the highest mean return at 12.5% with 16.9% volatility. US small cap (11.9% / 21.6%), developed ex-NA (9.3% / 18.4%), and emerging markets (11.2% / 22.3%) are all riskier.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Correlations range from 0.67 to 0.90: Canada correlates about 0.68 with every other market, while US large and small caps correlate 0.90 and EAFE and emerging markets correlate 0.87.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These high correlations limit the diversification benefit beyond a two-asset portfolio — a hint of why the optimizer will end up concentrating.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Frontier and selection criterion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We solve min w′Σw subject to w′μ = m*, Σw = 1, w ≥ 0 for a grid of target returns — one quadratic program per point — tracing out the long-only efficient frontier shown here.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With no risk-free asset there is no tangency portfolio or Sharpe-ratio rule, so we select the portfolio that maximizes mean-variance utility U = E[rp] − (γ/2)·Var[rp], with γ = 3 following the course convention.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The long-only constraint reflects the economic question: what would a retail investor's strategic equity allocation look like? It also keeps the answer interpretable.</a:t>
            </a:r>
          </a:p>
        </p:txBody>
      </p:sp>
      <p:pic>
        <p:nvPicPr>
          <p:cNvPr id="4" name="Picture 3" descr="frontier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71600"/>
            <a:ext cx="5943600" cy="4094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The most efficient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At γ = 3, the optimizer holds 48% Canada and 52% US large cap, with an expected return of 11.6% and volatility of 13.7%.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US small cap, developed ex-NA, and emerging markets receive zero weight — a corner solution typical of error-maximizing mean-variance optimizers facing highly correlated assets.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The answer is sensitive to risk aversion: the optimal Canada weight rises from 28% at γ = 2 to 48% at γ = 3 and 64% at γ = 5.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For reference, the minimum-variance portfolio is 89% Canada and 11% US large cap, with E[r] = 10.8% and σ = 12.7%.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Economic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At γ = 3 the optimizer chooses 48% domestic equity — essentially the 50% that Canadians actually hold.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The home bias is therefore roughly mean-variance efficient for a moderately risk-averse investor, not the glaring inefficiency its 15–18× market-cap overweight suggests.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Vanguard's 30% recommendation sits inside the efficient zone too — it corresponds to a risk aversion of about γ = 4–5.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Caveats: the corner solution is extreme, the minimum-variance criterion implies 89% domestic, and the results depend on the sample, the criterion, unhedged currency — and ignore taxes and fees.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Peer evaluation (paired group)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Three main differences versus the paired group's solution —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to be completed once the paired group is assigned.</a:t>
            </a:r>
          </a:p>
          <a:p>
            <a:pPr>
              <a:spcAft>
                <a:spcPts val="1600"/>
              </a:spcAft>
              <a:defRPr sz="1900">
                <a:solidFill>
                  <a:srgbClr val="333333"/>
                </a:solidFill>
              </a:defRPr>
            </a:pPr>
            <a:r>
              <a:t>The 5–6 minute in-class presentation will explain the paired group's work and methodology, and discuss these differences.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